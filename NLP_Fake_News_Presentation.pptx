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Accuracy</c:v>
                </c:pt>
              </c:strCache>
            </c:strRef>
          </c:tx>
          <c:spPr>
            <a:solidFill>
              <a:srgbClr val="8EB7D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EB7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B7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B7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B7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B7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DistilBERT
(best)</c:v>
                  </c:pt>
                  <c:pt idx="1">
                    <c:v>LR+mpnet</c:v>
                  </c:pt>
                  <c:pt idx="2">
                    <c:v>LinearSVC
+mpnet</c:v>
                  </c:pt>
                  <c:pt idx="3">
                    <c:v>MLP med
+mpnet</c:v>
                  </c:pt>
                  <c:pt idx="4">
                    <c:v>LR+TFIDF
bigram</c:v>
                  </c:pt>
                  <c:pt idx="5">
                    <c:v>Ensemble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0.975</c:v>
                </c:pt>
                <c:pt idx="1">
                  <c:v>0.972</c:v>
                </c:pt>
                <c:pt idx="2">
                  <c:v>0.97</c:v>
                </c:pt>
                <c:pt idx="3">
                  <c:v>0.968</c:v>
                </c:pt>
                <c:pt idx="4">
                  <c:v>0.965</c:v>
                </c:pt>
                <c:pt idx="5">
                  <c:v>0.985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B7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5"/>
        </c:scaling>
        <c:delete val="0"/>
        <c:axPos val="l"/>
        <c:majorGridlines>
          <c:spPr>
            <a:ln w="6350" cap="flat">
              <a:solidFill>
                <a:srgbClr val="1A33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B7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0"/>
            <a:ext cx="54864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3774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CLASSIFICATION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news headlines with 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35 NLP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548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357"/>
          </a:solidFill>
          <a:ln w="12700">
            <a:solidFill>
              <a:srgbClr val="1A33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Katya Levchenko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74320" y="841248"/>
            <a:ext cx="4114800" cy="35204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41248"/>
            <a:ext cx="54864" cy="35204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841248"/>
            <a:ext cx="4114800" cy="352044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841248"/>
            <a:ext cx="54864" cy="35204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987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 (Label 0)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4630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or fabricated headlines designed to deceive readers.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"Clinton Sold Weapons to ISIS"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"Obama Signs Executive Order Banning Pledge"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83480" y="987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  (Label 1)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83480" y="14630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factual headlines from legitimate news sources.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"Trump Signs Executive Order on Immigration"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"Fed Raises Interest Rates for First Time"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4544568"/>
            <a:ext cx="8595360" cy="43891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4544568"/>
            <a:ext cx="54864" cy="43891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445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Given a news headline, predict whether it is fake (0) or real (1)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828800" y="804672"/>
            <a:ext cx="329184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0" y="804672"/>
            <a:ext cx="54864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0" y="8961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01168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training_data.csv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11680" y="1664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labeled 0 (fake) or 1 (real)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804672"/>
            <a:ext cx="329184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804672"/>
            <a:ext cx="54864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8961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Set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66928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testing_data.csv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0" y="1664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with placeholder label 2 — to predict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468880"/>
            <a:ext cx="8595360" cy="242316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468880"/>
            <a:ext cx="54864" cy="2423160"/>
          </a:xfrm>
          <a:prstGeom prst="rect">
            <a:avLst/>
          </a:prstGeom>
          <a:solidFill>
            <a:srgbClr val="1A3357"/>
          </a:solidFill>
          <a:ln w="12700">
            <a:solidFill>
              <a:srgbClr val="1A33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3063240"/>
            <a:ext cx="1371600" cy="749808"/>
          </a:xfrm>
          <a:prstGeom prst="rect">
            <a:avLst/>
          </a:prstGeom>
          <a:solidFill>
            <a:srgbClr val="1A3357"/>
          </a:solidFill>
          <a:ln w="12700">
            <a:solidFill>
              <a:srgbClr val="8EB7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" y="30632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148840" y="3429000"/>
            <a:ext cx="201168" cy="0"/>
          </a:xfrm>
          <a:prstGeom prst="line">
            <a:avLst/>
          </a:prstGeom>
          <a:noFill/>
          <a:ln w="19050">
            <a:solidFill>
              <a:srgbClr val="8EB7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50008" y="3063240"/>
            <a:ext cx="1371600" cy="749808"/>
          </a:xfrm>
          <a:prstGeom prst="rect">
            <a:avLst/>
          </a:prstGeom>
          <a:solidFill>
            <a:srgbClr val="1A3357"/>
          </a:solidFill>
          <a:ln w="12700">
            <a:solidFill>
              <a:srgbClr val="8EB7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350008" y="30632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721608" y="3429000"/>
            <a:ext cx="201168" cy="0"/>
          </a:xfrm>
          <a:prstGeom prst="line">
            <a:avLst/>
          </a:prstGeom>
          <a:noFill/>
          <a:ln w="19050">
            <a:solidFill>
              <a:srgbClr val="8EB7D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22776" y="3063240"/>
            <a:ext cx="1371600" cy="749808"/>
          </a:xfrm>
          <a:prstGeom prst="rect">
            <a:avLst/>
          </a:prstGeom>
          <a:solidFill>
            <a:srgbClr val="1A3357"/>
          </a:solidFill>
          <a:ln w="12700">
            <a:solidFill>
              <a:srgbClr val="8EB7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922776" y="30632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294376" y="3429000"/>
            <a:ext cx="201168" cy="0"/>
          </a:xfrm>
          <a:prstGeom prst="line">
            <a:avLst/>
          </a:prstGeom>
          <a:noFill/>
          <a:ln w="19050">
            <a:solidFill>
              <a:srgbClr val="8EB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95544" y="3063240"/>
            <a:ext cx="1371600" cy="7498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495544" y="30632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867144" y="3429000"/>
            <a:ext cx="201168" cy="0"/>
          </a:xfrm>
          <a:prstGeom prst="line">
            <a:avLst/>
          </a:prstGeom>
          <a:noFill/>
          <a:ln w="19050">
            <a:solidFill>
              <a:srgbClr val="8EB7D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068312" y="3063240"/>
            <a:ext cx="1371600" cy="7498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68312" y="30632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4206240" cy="190195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68680"/>
            <a:ext cx="54864" cy="19019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601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(BOW)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453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CountVectorizer — raw word frequency counts.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856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Simple, fast, ignores word order and context.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Used with: LR, MultinomialNB, RandomForest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868680"/>
            <a:ext cx="4206240" cy="190195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868680"/>
            <a:ext cx="54864" cy="19019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9601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92040" y="1453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Term Frequency–Inverse Document Frequency.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92040" y="1856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Variants: unigram, bigram, char n-gram, 100k vocab.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204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Used with: LR, SVC, NB, RF, GBM, Ridge, SGD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944368"/>
            <a:ext cx="4206240" cy="190195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944368"/>
            <a:ext cx="54864" cy="19019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0358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3529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all-MiniLM-L6-v2 (fast, 384-dim)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all-mpnet-base-v2 (stronger, 768-dim)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Used with: LR, SVC, MLP, LSTM, Ridge, SGD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09160" y="2944368"/>
            <a:ext cx="4206240" cy="190195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2944368"/>
            <a:ext cx="54864" cy="19019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30358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(Fine-tuned)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892040" y="3529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distilbert-base-uncased fine-tuned end-to-end.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9204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3 variants: 1 / 2 / 3 training epochs.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92040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Max length: 64 tokens (headlines are short)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Base Models Trained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926080" y="804672"/>
            <a:ext cx="3291840" cy="320040"/>
          </a:xfrm>
          <a:prstGeom prst="rect">
            <a:avLst/>
          </a:prstGeom>
          <a:solidFill>
            <a:srgbClr val="1A3357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0" y="804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All model groups run in parallel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1168" y="1207008"/>
            <a:ext cx="0" cy="333756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42832" y="1207008"/>
            <a:ext cx="0" cy="333756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" y="1207008"/>
            <a:ext cx="201168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41664" y="1207008"/>
            <a:ext cx="201168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" y="4544568"/>
            <a:ext cx="201168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41664" y="4544568"/>
            <a:ext cx="201168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1216152"/>
            <a:ext cx="4114800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1216152"/>
            <a:ext cx="54864" cy="157276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13075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 BOW / TF-IDF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1746504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MultinomialNB · RandomForest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· LinearSVC · Ridge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· StackingClassifier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00600" y="1216152"/>
            <a:ext cx="4114800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0600" y="1216152"/>
            <a:ext cx="54864" cy="15727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13075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 Sentence Embeddings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83480" y="1746504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(MiniLM, mpnet, C=0.01/0.1/10)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(MiniLM, mpnet)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· SGD (MiniLM)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2935224"/>
            <a:ext cx="4114800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2935224"/>
            <a:ext cx="54864" cy="157276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302666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(PyTorch)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3465576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small / medium on MiniLM &amp; mpnet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small &amp; LSTM deep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MLP + 2 LSTM = 6 models)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00600" y="2935224"/>
            <a:ext cx="4114800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0600" y="2935224"/>
            <a:ext cx="54864" cy="15727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302666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(DistilBERT)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83480" y="3465576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distilbert-base-uncased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variants: 1 / 2 / 3 epochs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32 · LR: 2e-5 · MaxLen: 64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291840" y="4645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OOF + test CSVs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news_classification_oof_to_csv.ipynb Works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5029200" cy="418795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54864" cy="41879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89611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Cross-Validation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training_data.csv and testing_data.csv (TSV, no header).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764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StratifiedKFold (5 splits, random_state=42).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2157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For each model, call fit_predict_save() — produces 2 CSV files: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25511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&lt;model&gt;_oof.csv  — held-out fold predictions (shape: n_train)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2944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&lt;model&gt;.csv      — average of test preds across 5 folds (shape: n_test)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3337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Both saved to oofs/ folder, one pair per model.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3730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Repeat for all 35 models → 35 × 2 = 70 CSV files in oofs/.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804672"/>
            <a:ext cx="3291840" cy="418795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804672"/>
            <a:ext cx="54864" cy="4187952"/>
          </a:xfrm>
          <a:prstGeom prst="rect">
            <a:avLst/>
          </a:prstGeom>
          <a:solidFill>
            <a:srgbClr val="1A3357"/>
          </a:solidFill>
          <a:ln w="12700">
            <a:solidFill>
              <a:srgbClr val="1A33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896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Diagram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15000" y="1417320"/>
            <a:ext cx="512064" cy="457200"/>
          </a:xfrm>
          <a:prstGeom prst="rect">
            <a:avLst/>
          </a:prstGeom>
          <a:solidFill>
            <a:srgbClr val="4FC3F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14173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263640" y="141732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14173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812280" y="141732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14173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7360920" y="141732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60920" y="14173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909560" y="141732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9560" y="14173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485632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OOF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715000" y="201168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15000" y="20116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263640" y="2011680"/>
            <a:ext cx="512064" cy="457200"/>
          </a:xfrm>
          <a:prstGeom prst="rect">
            <a:avLst/>
          </a:prstGeom>
          <a:solidFill>
            <a:srgbClr val="4FC3F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63640" y="20116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812280" y="201168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12280" y="20116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7360920" y="201168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60920" y="20116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7909560" y="201168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09560" y="20116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848563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OOF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715000" y="260604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715000" y="26060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6263640" y="260604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63640" y="26060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6812280" y="2606040"/>
            <a:ext cx="512064" cy="457200"/>
          </a:xfrm>
          <a:prstGeom prst="rect">
            <a:avLst/>
          </a:prstGeom>
          <a:solidFill>
            <a:srgbClr val="4FC3F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812280" y="26060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360920" y="260604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60920" y="26060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7909560" y="260604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09560" y="260604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8485632" y="2697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OOF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715000" y="320040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715000" y="32004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6263640" y="320040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63640" y="32004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6" name="Shape 53"/>
          <p:cNvSpPr/>
          <p:nvPr/>
        </p:nvSpPr>
        <p:spPr>
          <a:xfrm>
            <a:off x="6812280" y="320040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12280" y="32004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7360920" y="3200400"/>
            <a:ext cx="512064" cy="457200"/>
          </a:xfrm>
          <a:prstGeom prst="rect">
            <a:avLst/>
          </a:prstGeom>
          <a:solidFill>
            <a:srgbClr val="4FC3F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360920" y="32004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7909560" y="320040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909560" y="32004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8485632" y="3291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OOF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5715000" y="379476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15000" y="3794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6263640" y="379476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263640" y="3794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6812280" y="379476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812280" y="3794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7360920" y="3794760"/>
            <a:ext cx="512064" cy="457200"/>
          </a:xfrm>
          <a:prstGeom prst="rect">
            <a:avLst/>
          </a:prstGeom>
          <a:solidFill>
            <a:srgbClr val="1A3357"/>
          </a:solidFill>
          <a:ln w="6350">
            <a:solidFill>
              <a:srgbClr val="8EB7D4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360920" y="3794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7909560" y="3794760"/>
            <a:ext cx="512064" cy="457200"/>
          </a:xfrm>
          <a:prstGeom prst="rect">
            <a:avLst/>
          </a:prstGeom>
          <a:solidFill>
            <a:srgbClr val="4FC3F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909560" y="3794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8485632" y="3886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OOF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5715000" y="4572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training row predicted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once — no data leakage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ensemble.ipynb Works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8595360" cy="1664208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54864" cy="1664208"/>
          </a:xfrm>
          <a:prstGeom prst="rect">
            <a:avLst/>
          </a:prstGeom>
          <a:solidFill>
            <a:srgbClr val="1A3357"/>
          </a:solidFill>
          <a:ln w="12700">
            <a:solidFill>
              <a:srgbClr val="1A33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Architecture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828800" cy="621792"/>
          </a:xfrm>
          <a:prstGeom prst="rect">
            <a:avLst/>
          </a:prstGeom>
          <a:solidFill>
            <a:srgbClr val="112240"/>
          </a:solidFill>
          <a:ln w="1016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2984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SVC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(TF-IDF)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1298448"/>
            <a:ext cx="1828800" cy="621792"/>
          </a:xfrm>
          <a:prstGeom prst="rect">
            <a:avLst/>
          </a:prstGeom>
          <a:solidFill>
            <a:srgbClr val="112240"/>
          </a:solidFill>
          <a:ln w="1016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0" y="12984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SVC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(Embeddings)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298448"/>
            <a:ext cx="1828800" cy="621792"/>
          </a:xfrm>
          <a:prstGeom prst="rect">
            <a:avLst/>
          </a:prstGeom>
          <a:solidFill>
            <a:srgbClr val="112240"/>
          </a:solidFill>
          <a:ln w="1016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12984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/ LSTM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(PyTorch)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1298448"/>
            <a:ext cx="1828800" cy="621792"/>
          </a:xfrm>
          <a:prstGeom prst="rect">
            <a:avLst/>
          </a:prstGeom>
          <a:solidFill>
            <a:srgbClr val="112240"/>
          </a:solidFill>
          <a:ln w="1016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12984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(Fine-tuned)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89120" y="1920240"/>
            <a:ext cx="0" cy="384048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1975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probabilities stacked as matrix: X_train (n_train × 35) and X_test (n_test × 35)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926080" y="2331720"/>
            <a:ext cx="329184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26080" y="2331720"/>
            <a:ext cx="54864" cy="74980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0896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Meta-Learner: LogisticRegression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389120" y="3081528"/>
            <a:ext cx="0" cy="347472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17520" y="3429000"/>
            <a:ext cx="3108960" cy="5029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3429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Predictions  (0 = Fake  /  1 = Real)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4069080"/>
            <a:ext cx="8595360" cy="91440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4069080"/>
            <a:ext cx="54864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1330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Scan oofs/ folder, load each &lt;model&gt;_oof.csv (train probs) + &lt;model&gt;.csv (test probs)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92040" y="41330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Stack into matrices — X_train: (n_train × 35)  and  X_test: (n_test × 35)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5171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Fit meta LogisticRegression on X_train using true labels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92040" y="45171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Predict on X_test → threshold 0.5 → save final_submission.csv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Performance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54864" cy="16002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961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98.50%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148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OOF Accuracy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training folds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804672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804672"/>
            <a:ext cx="54864" cy="1600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8961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98.45%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29184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OOF F1 Score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91840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macro-averaged F1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804672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804672"/>
            <a:ext cx="54864" cy="16002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8961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17220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Combined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2200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feature types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606040"/>
          <a:ext cx="8595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Estimation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8595360" cy="1828800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54864" cy="18288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8961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Test Accuracy: ~97 – 98.5%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1481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OOF accuracy (98.5%) is a reliable estimate — each prediction made on data NOT seen during training.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755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5-fold stratified split ensures balanced class distribution in every fold.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2029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Ensemble of 35 diverse models (BOW, TF-IDF, embeddings, deep learning) reduces variance significantly.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2304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DistilBERT alone reaches ~97.5% OOF; ensemble further improves by ~1 point.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816352"/>
            <a:ext cx="4114800" cy="208483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816352"/>
            <a:ext cx="54864" cy="20848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Trust This Estimate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34015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OOF = cross-validated, held-out predictions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7673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test labels used during feature extraction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41330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Meta-learner trained on OOF (not raw train probs)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4988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Diverse feature types prevent co-overfitting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2816352"/>
            <a:ext cx="4114800" cy="208483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2816352"/>
            <a:ext cx="54864" cy="208483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Risks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83480" y="34015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Distribution shift if test headlines differ in topic/style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83480" y="37673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Short headlines can be ambiguous even for humans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983480" y="41330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Slight meta-learner overfitting possible (35 features)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0"/>
            <a:ext cx="54864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623560" cy="80467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8046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&gt; Any Single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35 diverse models boosts accuracy from ~97.5% to 98.5%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5623560" cy="80467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57400"/>
            <a:ext cx="54864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57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= Honest Evaluation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487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OOF gives a reliable, unbiased accuracy estimate without leakage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5623560" cy="80467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54864" cy="80467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71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Diversity Matters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401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BOW, TF-IDF, sentence embeddings, and fine-tuned BERT all contribute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5623560" cy="804672"/>
          </a:xfrm>
          <a:prstGeom prst="rect">
            <a:avLst/>
          </a:prstGeom>
          <a:solidFill>
            <a:srgbClr val="112240"/>
          </a:solidFill>
          <a:ln w="6350">
            <a:solidFill>
              <a:srgbClr val="1A33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86200"/>
            <a:ext cx="54864" cy="8046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862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39319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with Meta-Learner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3159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learns optimal model weights from OOF probabilities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11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9601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40080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Accuracy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2487168"/>
            <a:ext cx="2011680" cy="0"/>
          </a:xfrm>
          <a:prstGeom prst="line">
            <a:avLst/>
          </a:prstGeom>
          <a:noFill/>
          <a:ln w="6350">
            <a:solidFill>
              <a:srgbClr val="1A33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6060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final_submission.csv 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357"/>
          </a:solidFill>
          <a:ln w="12700">
            <a:solidFill>
              <a:srgbClr val="1A33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006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with NLP</dc:title>
  <dc:subject>PptxGenJS Presentation</dc:subject>
  <dc:creator>PptxGenJS</dc:creator>
  <cp:lastModifiedBy>PptxGenJS</cp:lastModifiedBy>
  <cp:revision>1</cp:revision>
  <dcterms:created xsi:type="dcterms:W3CDTF">2026-04-02T12:43:17Z</dcterms:created>
  <dcterms:modified xsi:type="dcterms:W3CDTF">2026-04-02T12:43:17Z</dcterms:modified>
</cp:coreProperties>
</file>